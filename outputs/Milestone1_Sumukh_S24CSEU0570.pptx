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Introduce: project, claim, that the task comes from AISoMe 2026 (English train, Hindi/Bengali test).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claim never appears in the comments. Examples are from our team-authored pilot corpus, not scraped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arguments: external claim, shared vocabulary, implicit stance, heterogeneous None. Stats are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are as reported by each source on its own data; not comparable with each other or with 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measured result: English-trained TF-IDF on the Indic pilot gives macro-F1 0.341 and predicts None for 131/150. Gap table: data/DATASET_INVENTORY.md. Pilot is synthetic, development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Usable dataset: PARTIALLY. English target-correct data yes; Hindi/Bengali comments only the synthetic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 = implemented and run today. Amber = written, not yet run. Grey = planned for Milestone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 n-grams: hapax rate. MuRIL: IndicXNLI. Pair input: stance is relative to a claim. Macro-F1 + weights: rare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Headline: English-to-Indic zero-shot collapses to majority-class prediction (pilot: synthetic, dev only). English CV numbers are optimistic (no document ids, one hashtag cluster).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Biggest risk: validation-to-test gap reported by a peer team (0.65-0.68 to 0.42-0.53).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  <a:cs typeface="Nirmala UI"/>
              </a:rPr>
              <a:t>CSET346  NATURAL LANGUAGE PROCESSING  |  MILESTONE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89920" cy="228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  <a:cs typeface="Nirmala UI"/>
              </a:rPr>
              <a:t>Detecting Stance in Media on Global Warming for Indic Languages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566160"/>
            <a:ext cx="1051560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400" b="0" i="0">
                <a:solidFill>
                  <a:srgbClr val="C9D3E3"/>
                </a:solidFill>
                <a:latin typeface="Calibri"/>
                <a:cs typeface="Nirmala UI"/>
              </a:rPr>
              <a:t>Favour / Against / None toward one claim, in Hindi and Bengali comments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73152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  <a:cs typeface="Nirmala UI"/>
              </a:rPr>
              <a:t>Sumukh Gupta  |  S24CSEU0570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  <a:cs typeface="Nirmala UI"/>
              </a:rPr>
              <a:t>B.Tech CSE, Bennett University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  <a:latin typeface="Calibri"/>
                <a:cs typeface="Nirmala UI"/>
              </a:rPr>
              <a:t>Instructor: Dr. Supriya Chanda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0" y="4754880"/>
            <a:ext cx="384048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C9D3E3"/>
                </a:solidFill>
                <a:latin typeface="Calibri"/>
                <a:cs typeface="Nirmala UI"/>
              </a:rPr>
              <a:t>Derived from the AISoMe 2026 shared task at FIRE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686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1 | PROBLEM IDENTIFICATION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  <a:cs typeface="Nirmala UI"/>
              </a:rPr>
              <a:t>One claim, three labels, Hindi and Bengali comments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Sumukh Gupta  |  S24CSEU0570  |  CSET346 NLP  |  Milestone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2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7315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F2A44"/>
                </a:solidFill>
                <a:latin typeface="Calibri"/>
                <a:cs typeface="Nirmala UI"/>
              </a:rPr>
              <a:t>“Climate change and global warming is a serious concern.”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3611880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  <a:cs typeface="Nirmala UI"/>
              </a:rPr>
              <a:t>Favour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926080"/>
            <a:ext cx="36118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  <a:cs typeface="Nirmala UI"/>
              </a:rPr>
              <a:t>Agrees it is a serious concern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29000"/>
            <a:ext cx="3611880" cy="13258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C677D"/>
                </a:solidFill>
                <a:latin typeface="Calibri"/>
                <a:cs typeface="Nirmala UI"/>
              </a:rPr>
              <a:t>Hindi  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63B"/>
                </a:solidFill>
                <a:latin typeface="Calibri"/>
                <a:cs typeface="Nirmala UI"/>
              </a:rPr>
              <a:t>बहुत ज़रूरी वीडियो। पर्यावरण को बचाना आज की सबसे बड़ी ज़रूरत है।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846320"/>
            <a:ext cx="3611880" cy="13258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C677D"/>
                </a:solidFill>
                <a:latin typeface="Calibri"/>
                <a:cs typeface="Nirmala UI"/>
              </a:rPr>
              <a:t>Bengali  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63B"/>
                </a:solidFill>
                <a:latin typeface="Calibri"/>
                <a:cs typeface="Nirmala UI"/>
              </a:rPr>
              <a:t>খুব দরকারি ভিডিও। পরিবেশ বাঁচানো আজ সবচেয়ে বড় প্রয়োজন।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2331720"/>
            <a:ext cx="361188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  <a:cs typeface="Nirmala UI"/>
              </a:rPr>
              <a:t>Against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2926080"/>
            <a:ext cx="36118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  <a:cs typeface="Nirmala UI"/>
              </a:rPr>
              <a:t>Disagrees, minimises, denies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3429000"/>
            <a:ext cx="3611880" cy="13258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C677D"/>
                </a:solidFill>
                <a:latin typeface="Calibri"/>
                <a:cs typeface="Nirmala UI"/>
              </a:rPr>
              <a:t>Hindi  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63B"/>
                </a:solidFill>
                <a:latin typeface="Calibri"/>
                <a:cs typeface="Nirmala UI"/>
              </a:rPr>
              <a:t>ग्लोबल वार्मिंग सब झूठ है, पहले भी गर्मी पड़ती थी।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4846320"/>
            <a:ext cx="3611880" cy="13258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C677D"/>
                </a:solidFill>
                <a:latin typeface="Calibri"/>
                <a:cs typeface="Nirmala UI"/>
              </a:rPr>
              <a:t>Bengali  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63B"/>
                </a:solidFill>
                <a:latin typeface="Calibri"/>
                <a:cs typeface="Nirmala UI"/>
              </a:rPr>
              <a:t>বিশ্ব উষ্ণায়ন সব মিথ্যা, আগেও গরম পড়ত।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37576" y="2331720"/>
            <a:ext cx="3611880" cy="548640"/>
          </a:xfrm>
          <a:prstGeom prst="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  <a:cs typeface="Nirmala UI"/>
              </a:rPr>
              <a:t>None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7576" y="2926080"/>
            <a:ext cx="361188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  <a:cs typeface="Nirmala UI"/>
              </a:rPr>
              <a:t>Neutral, off-topic or unclear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37576" y="3429000"/>
            <a:ext cx="3611880" cy="13258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C677D"/>
                </a:solidFill>
                <a:latin typeface="Calibri"/>
                <a:cs typeface="Nirmala UI"/>
              </a:rPr>
              <a:t>Hindi  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63B"/>
                </a:solidFill>
                <a:latin typeface="Calibri"/>
                <a:cs typeface="Nirmala UI"/>
              </a:rPr>
              <a:t>इसका लिंक कहाँ मिलेगा?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7576" y="4846320"/>
            <a:ext cx="3611880" cy="132588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C677D"/>
                </a:solidFill>
                <a:latin typeface="Calibri"/>
                <a:cs typeface="Nirmala UI"/>
              </a:rPr>
              <a:t>Bengali  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B263B"/>
                </a:solidFill>
                <a:latin typeface="Calibri"/>
                <a:cs typeface="Nirmala UI"/>
              </a:rPr>
              <a:t>এর লিংকটা কোথায় পাব?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677D"/>
                </a:solidFill>
                <a:latin typeface="Calibri"/>
                <a:cs typeface="Nirmala UI"/>
              </a:rPr>
              <a:t>Examples: team-authored pilot corpus (synthetic, development only). Metric: macro-F1.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686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1 | PROBLEM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  <a:cs typeface="Nirmala UI"/>
              </a:rPr>
              <a:t>Why this is not simple text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Sumukh Gupta  |  S24CSEU0570  |  CSET346 NLP  |  Milestone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3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2A44"/>
                </a:solidFill>
                <a:latin typeface="Calibri"/>
                <a:cs typeface="Nirmala UI"/>
              </a:rPr>
              <a:t>1  The claim is not in the 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4864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  <a:cs typeface="Nirmala UI"/>
              </a:rPr>
              <a:t>Against, because the claim is about warming: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5486400" cy="1234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63B"/>
                </a:solidFill>
                <a:latin typeface="Calibri"/>
                <a:cs typeface="Nirmala UI"/>
              </a:rPr>
              <a:t>अगर धरती गरम हो रही है तो इस बार इतनी ठंड क्यों पड़ी? कोई बताएगा?  (Against)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2A44"/>
                </a:solidFill>
                <a:latin typeface="Calibri"/>
                <a:cs typeface="Nirmala UI"/>
              </a:rPr>
              <a:t>2  Same words, opposite stance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874519"/>
            <a:ext cx="54864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  <a:cs typeface="Nirmala UI"/>
              </a:rPr>
              <a:t>58.9% of Against vocabulary also appears in Favour (English set).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514600"/>
            <a:ext cx="5486400" cy="1234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63B"/>
                </a:solidFill>
                <a:latin typeface="Calibri"/>
                <a:cs typeface="Nirmala UI"/>
              </a:rPr>
              <a:t>वाह भाई, दिसंबर में पंखा चल रहा है, लेकिन जलवायु परिवर्तन तो झूठ है ना?  (Favour)
ग्लोबल वार्मिंग सब झूठ है, पहले भी गर्मी पड़ती थी।  (Against)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886200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2A44"/>
                </a:solidFill>
                <a:latin typeface="Calibri"/>
                <a:cs typeface="Nirmala UI"/>
              </a:rPr>
              <a:t>3  Stance is often implicit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343400"/>
            <a:ext cx="54864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  <a:cs typeface="Nirmala UI"/>
              </a:rPr>
              <a:t>World knowledge needed; no climate word: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983480"/>
            <a:ext cx="5486400" cy="1234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63B"/>
                </a:solidFill>
                <a:latin typeface="Calibri"/>
                <a:cs typeface="Nirmala UI"/>
              </a:rPr>
              <a:t>हमारे गाँव का कुआँ इस साल मई में ही सूख गया, पहले ऐसा कभी नहीं हुआ।  (Favour)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886200"/>
            <a:ext cx="54864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2100" b="1" i="0">
                <a:solidFill>
                  <a:srgbClr val="1F2A44"/>
                </a:solidFill>
                <a:latin typeface="Calibri"/>
                <a:cs typeface="Nirmala UI"/>
              </a:rPr>
              <a:t>4  None is a junk drawer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4343400"/>
            <a:ext cx="54864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  <a:cs typeface="Nirmala UI"/>
              </a:rPr>
              <a:t>Neutral + off-topic + ambiguous. 215 of 2,300 annotated sentences (9.3%) had no annotator majority.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983480"/>
            <a:ext cx="5486400" cy="12344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B263B"/>
                </a:solidFill>
                <a:latin typeface="Calibri"/>
                <a:cs typeface="Nirmala UI"/>
              </a:rPr>
              <a:t>भाई आपका माइक बहुत अच्छा है, कौन सा लिया?  (None)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217920"/>
            <a:ext cx="11155680" cy="228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Plus: English training data, Hindi/Bengali test data. Examples: pilot corpus (synthetic).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686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2 | REVIEW OF EXISTING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  <a:cs typeface="Nirmala UI"/>
              </a:rPr>
              <a:t>What exists, what it reports, why it falls short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Sumukh Gupta  |  S24CSEU0570  |  CSET346 NLP  |  Milestone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4 /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78" cy="41005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35381"/>
                <a:gridCol w="3042458"/>
                <a:gridCol w="2839627"/>
                <a:gridCol w="2738212"/>
              </a:tblGrid>
              <a:tr h="357631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Approach</a:t>
                      </a:r>
                    </a:p>
                  </a:txBody>
                  <a:tcPr marL="73152" marR="73152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Representative work</a:t>
                      </a:r>
                    </a:p>
                  </a:txBody>
                  <a:tcPr marL="73152" marR="73152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Reported result</a:t>
                      </a:r>
                    </a:p>
                  </a:txBody>
                  <a:tcPr marL="73152" marR="73152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Limitation for us</a:t>
                      </a:r>
                    </a:p>
                  </a:txBody>
                  <a:tcPr marL="73152" marR="73152" marT="36576" marB="36576" anchor="ctr">
                    <a:solidFill>
                      <a:srgbClr val="1F2A44"/>
                    </a:solidFill>
                  </a:tcPr>
                </a:tc>
              </a:tr>
              <a:tr h="605535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Tweet stance, 3 labels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SemEval-2016 Task 6 (Mohammad)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see paper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English; per-target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5535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News-sentence stance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GWSD (Luo et al. 2020)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see paper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English news, not comments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</a:tr>
              <a:tr h="605535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Climate tweets, 6 layers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ClimaConvo (Shiwakoti 2024)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15,309 rows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IDs only: no 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7631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Multimodal video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MultiClimate (Wang 2024)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acc 0.747, F1 0.749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English transcripts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</a:tr>
              <a:tr h="605535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Bangla news stance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Dhoroni (Wasi 2024)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acc 0.635, F1 0.308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News; minority classes weak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57631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Code-mixed Hindi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Swami et al. 2018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58.7% accuracy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Target: demonetisation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</a:tr>
              <a:tr h="605535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Same task, translate-train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Squad4, AISoMe 2026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F1 0.42-0.53 (val 0.65-0.68)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Large val-to-test gap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77D"/>
                </a:solidFill>
                <a:latin typeface="Calibri"/>
                <a:cs typeface="Nirmala UI"/>
              </a:rPr>
              <a:t>Squad4: a competing team; only their reported scores are cited. Ours (measured): TF-IDF macro-F1 0.613 on English CV.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686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2 | RESEARCH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  <a:cs typeface="Nirmala UI"/>
              </a:rPr>
              <a:t>No resource matches target, language and domain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Sumukh Gupta  |  S24CSEU0570  |  CSET346 NLP  |  Milestone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291840" cy="822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Nirmala UI"/>
              </a:rPr>
              <a:t>English labelled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86000"/>
            <a:ext cx="329184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  <a:cs typeface="Nirmala UI"/>
              </a:rPr>
              <a:t>GWSD news + SemEval tweets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2788920"/>
            <a:ext cx="109728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1F2A44"/>
                </a:solidFill>
                <a:latin typeface="Calibri"/>
                <a:cs typeface="Nirmala U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3291840" cy="8229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Nirmala UI"/>
              </a:rPr>
              <a:t>Hindi / Bengali comments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389120"/>
            <a:ext cx="329184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5C677D"/>
                </a:solidFill>
                <a:latin typeface="Calibri"/>
                <a:cs typeface="Nirmala UI"/>
              </a:rPr>
              <a:t>hidden test: code-mixing, spelling variation, negation, implicit stance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206240" y="1417320"/>
          <a:ext cx="7452360" cy="30068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52904"/>
                <a:gridCol w="1821688"/>
                <a:gridCol w="1656080"/>
                <a:gridCol w="1821688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Resource</a:t>
                      </a:r>
                    </a:p>
                  </a:txBody>
                  <a:tcPr marL="73152" marR="73152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Our claim</a:t>
                      </a:r>
                    </a:p>
                  </a:txBody>
                  <a:tcPr marL="73152" marR="73152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Hindi / Bengali</a:t>
                      </a:r>
                    </a:p>
                  </a:txBody>
                  <a:tcPr marL="73152" marR="73152" marT="36576" marB="36576" anchor="ctr">
                    <a:solidFill>
                      <a:srgbClr val="1F2A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cs typeface="Nirmala UI"/>
                        </a:rPr>
                        <a:t>Comments</a:t>
                      </a:r>
                    </a:p>
                  </a:txBody>
                  <a:tcPr marL="73152" marR="73152" marT="36576" marB="36576" anchor="ctr">
                    <a:solidFill>
                      <a:srgbClr val="1F2A4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SemEval-2016 climate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GWSD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No (news)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ClimaConvo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Close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Yes, but no text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MultiClimate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Close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No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No (transcripts)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Dhoroni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Close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Bengali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No (news)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7454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Swami 2018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No (demonetisation)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Romanised Hindi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AISoMe test (hidden)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B263B"/>
                          </a:solidFill>
                          <a:latin typeface="Calibri"/>
                          <a:cs typeface="Nirmala UI"/>
                        </a:rPr>
                        <a:t>Yes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349240"/>
            <a:ext cx="11155680" cy="1005840"/>
          </a:xfrm>
          <a:prstGeom prst="rect">
            <a:avLst/>
          </a:prstGeom>
          <a:solidFill>
            <a:srgbClr val="FDECE8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76F51"/>
                </a:solidFill>
                <a:latin typeface="Calibri"/>
                <a:cs typeface="Nirmala UI"/>
              </a:rPr>
              <a:t>Measured, not assumed: </a:t>
            </a:r>
            <a:r>
              <a:rPr sz="1500" b="0" i="0">
                <a:solidFill>
                  <a:srgbClr val="1B263B"/>
                </a:solidFill>
                <a:latin typeface="Calibri"/>
                <a:cs typeface="Nirmala UI"/>
              </a:rPr>
              <a:t>English-trained TF-IDF on the Indic pilot reaches macro-F1 0.341 (floor 0.167) and predicts None for 131 of 150: cross-lingual transfer collapses to majority-class prediction, so in-language data and Indic-specific models are needed. 58.9% of Against vocabulary also appears in Favour: not simple text classification. </a:t>
            </a:r>
            <a:r>
              <a:rPr sz="1500" b="0" i="1">
                <a:solidFill>
                  <a:srgbClr val="5C677D"/>
                </a:solidFill>
                <a:latin typeface="Calibri"/>
                <a:cs typeface="Nirmala UI"/>
              </a:rPr>
              <a:t>(Pilot: synthetic, development only.)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686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3 | DATASET EXPLORATION AND STATISTICS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  <a:cs typeface="Nirmala UI"/>
              </a:rPr>
              <a:t>What data we actually have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Sumukh Gupta  |  S24CSEU0570  |  CSET346 NLP  |  Milestone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6 / 10</a:t>
            </a:r>
          </a:p>
        </p:txBody>
      </p:sp>
      <p:pic>
        <p:nvPicPr>
          <p:cNvPr id="6" name="Picture 5" descr="fig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6400800" cy="3200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040880" y="1417320"/>
            <a:ext cx="4663440" cy="502920"/>
          </a:xfrm>
          <a:prstGeom prst="rect">
            <a:avLst/>
          </a:prstGeom>
          <a:solidFill>
            <a:srgbClr val="E9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Nirmala UI"/>
              </a:rPr>
              <a:t>Usable dataset found: PARTIALLY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2057400"/>
            <a:ext cx="4663440" cy="42062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1B263B"/>
                </a:solidFill>
                <a:latin typeface="Calibri"/>
                <a:cs typeface="Nirmala UI"/>
              </a:rPr>
              <a:t>English merged: </a:t>
            </a:r>
            <a:r>
              <a:rPr sz="1800" b="0" i="0">
                <a:solidFill>
                  <a:srgbClr val="1B263B"/>
                </a:solidFill>
                <a:latin typeface="Calibri"/>
                <a:cs typeface="Nirmala UI"/>
              </a:rPr>
              <a:t>2,408 labelled (GWSD news + SemEval tweets)</a:t>
            </a:r>
          </a:p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1B263B"/>
                </a:solidFill>
                <a:latin typeface="Calibri"/>
                <a:cs typeface="Nirmala UI"/>
              </a:rPr>
              <a:t>Against is rare: </a:t>
            </a:r>
            <a:r>
              <a:rPr sz="1800" b="0" i="0">
                <a:solidFill>
                  <a:srgbClr val="1B263B"/>
                </a:solidFill>
                <a:latin typeface="Calibri"/>
                <a:cs typeface="Nirmala UI"/>
              </a:rPr>
              <a:t>14.3% (SemEval: 26 of 564)</a:t>
            </a:r>
          </a:p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1B263B"/>
                </a:solidFill>
                <a:latin typeface="Calibri"/>
                <a:cs typeface="Nirmala UI"/>
              </a:rPr>
              <a:t>Hapax rate: </a:t>
            </a:r>
            <a:r>
              <a:rPr sz="1800" b="0" i="0">
                <a:solidFill>
                  <a:srgbClr val="1B263B"/>
                </a:solidFill>
                <a:latin typeface="Calibri"/>
                <a:cs typeface="Nirmala UI"/>
              </a:rPr>
              <a:t>54.3% English, 68.4% pilot</a:t>
            </a:r>
          </a:p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1B263B"/>
                </a:solidFill>
                <a:latin typeface="Calibri"/>
                <a:cs typeface="Nirmala UI"/>
              </a:rPr>
              <a:t>Majority floor: </a:t>
            </a:r>
            <a:r>
              <a:rPr sz="1800" b="0" i="0">
                <a:solidFill>
                  <a:srgbClr val="1B263B"/>
                </a:solidFill>
                <a:latin typeface="Calibri"/>
                <a:cs typeface="Nirmala UI"/>
              </a:rPr>
              <a:t>macro-F1 0.200</a:t>
            </a:r>
          </a:p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1B263B"/>
                </a:solidFill>
                <a:latin typeface="Calibri"/>
                <a:cs typeface="Nirmala UI"/>
              </a:rPr>
              <a:t>No annotator majority: </a:t>
            </a:r>
            <a:r>
              <a:rPr sz="1800" b="0" i="0">
                <a:solidFill>
                  <a:srgbClr val="1B263B"/>
                </a:solidFill>
                <a:latin typeface="Calibri"/>
                <a:cs typeface="Nirmala UI"/>
              </a:rPr>
              <a:t>215 of 2,300 GWSD (9.3%); 202 remain after dedup, dropped</a:t>
            </a:r>
          </a:p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1B263B"/>
                </a:solidFill>
                <a:latin typeface="Calibri"/>
                <a:cs typeface="Nirmala UI"/>
              </a:rPr>
              <a:t>Median length: </a:t>
            </a:r>
            <a:r>
              <a:rPr sz="1800" b="0" i="0">
                <a:solidFill>
                  <a:srgbClr val="1B263B"/>
                </a:solidFill>
                <a:latin typeface="Calibri"/>
                <a:cs typeface="Nirmala UI"/>
              </a:rPr>
              <a:t>17 words (pilot 10)</a:t>
            </a:r>
          </a:p>
          <a:p>
            <a:pPr algn="l">
              <a:spcAft>
                <a:spcPts val="700"/>
              </a:spcAft>
            </a:pPr>
            <a:r>
              <a:rPr sz="1800" b="1" i="0">
                <a:solidFill>
                  <a:srgbClr val="E76F51"/>
                </a:solidFill>
                <a:latin typeface="Calibri"/>
                <a:cs typeface="Nirmala UI"/>
              </a:rPr>
              <a:t>Hindi/Bengali: </a:t>
            </a:r>
            <a:r>
              <a:rPr sz="1800" b="0" i="0">
                <a:solidFill>
                  <a:srgbClr val="1B263B"/>
                </a:solidFill>
                <a:latin typeface="Calibri"/>
                <a:cs typeface="Nirmala UI"/>
              </a:rPr>
              <a:t>150 team-authored synthetic comments, development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4846320"/>
            <a:ext cx="6400800" cy="12801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C677D"/>
                </a:solidFill>
                <a:latin typeface="Calibri"/>
                <a:cs typeface="Nirmala UI"/>
              </a:rPr>
              <a:t>Not obtained: official AISoMe data; ClimaConvo text (IDs only). Dhoroni (Bengali news) and Swami (demonetisation) kept out of the training pool.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686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3 | OBJECTIVES AND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  <a:cs typeface="Nirmala UI"/>
              </a:rPr>
              <a:t>Pipeline: clean text to cross-lingual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Sumukh Gupta  |  S24CSEU0570  |  CSET346 NLP  |  Milestone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1155680" cy="10972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300"/>
              </a:spcAft>
            </a:pPr>
            <a:r>
              <a:rPr sz="1900" b="0" i="0">
                <a:solidFill>
                  <a:srgbClr val="1B263B"/>
                </a:solidFill>
                <a:latin typeface="Calibri"/>
                <a:cs typeface="Nirmala UI"/>
              </a:rPr>
              <a:t>1  Understand and measure the task and data honestly</a:t>
            </a:r>
          </a:p>
          <a:p>
            <a:pPr algn="l">
              <a:spcAft>
                <a:spcPts val="300"/>
              </a:spcAft>
            </a:pPr>
            <a:r>
              <a:rPr sz="1900" b="0" i="0">
                <a:solidFill>
                  <a:srgbClr val="1B263B"/>
                </a:solidFill>
                <a:latin typeface="Calibri"/>
                <a:cs typeface="Nirmala UI"/>
              </a:rPr>
              <a:t>2  Build a reproducible baseline with a floor to beat</a:t>
            </a:r>
          </a:p>
          <a:p>
            <a:pPr algn="l">
              <a:spcAft>
                <a:spcPts val="300"/>
              </a:spcAft>
            </a:pPr>
            <a:r>
              <a:rPr sz="1900" b="0" i="0">
                <a:solidFill>
                  <a:srgbClr val="1B263B"/>
                </a:solidFill>
                <a:latin typeface="Calibri"/>
                <a:cs typeface="Nirmala UI"/>
              </a:rPr>
              <a:t>3  Design a target-aware multilingual model and a cross-lingual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26080"/>
            <a:ext cx="2011680" cy="8686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Nirmala UI"/>
              </a:rPr>
              <a:t>Preprocess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886200"/>
            <a:ext cx="20116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B263B"/>
                </a:solidFill>
                <a:latin typeface="Calibri"/>
                <a:cs typeface="Nirmala UI"/>
              </a:rPr>
              <a:t>NFC, noise strip, script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00600"/>
            <a:ext cx="2011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done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8" y="3063240"/>
            <a:ext cx="3657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  <a:cs typeface="Nirmala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926080"/>
            <a:ext cx="2011680" cy="86868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Nirmala UI"/>
              </a:rPr>
              <a:t>Baselines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3886200"/>
            <a:ext cx="20116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B263B"/>
                </a:solidFill>
                <a:latin typeface="Calibri"/>
                <a:cs typeface="Nirmala UI"/>
              </a:rPr>
              <a:t>TF-IDF word + char, majority floor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4800600"/>
            <a:ext cx="2011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73168" y="3063240"/>
            <a:ext cx="3657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  <a:cs typeface="Nirmala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2926080"/>
            <a:ext cx="2011680" cy="868680"/>
          </a:xfrm>
          <a:prstGeom prst="roundRect">
            <a:avLst/>
          </a:prstGeom>
          <a:solidFill>
            <a:srgbClr val="E9A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Nirmala UI"/>
              </a:rPr>
              <a:t>Target-aware encoder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3886200"/>
            <a:ext cx="20116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B263B"/>
                </a:solidFill>
                <a:latin typeface="Calibri"/>
                <a:cs typeface="Nirmala UI"/>
              </a:rPr>
              <a:t>MuRIL on claim [SEP] comment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800600"/>
            <a:ext cx="2011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E9A820"/>
                </a:solidFill>
                <a:latin typeface="Calibri"/>
                <a:cs typeface="Nirmala UI"/>
              </a:rPr>
              <a:t>written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59168" y="3063240"/>
            <a:ext cx="3657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  <a:cs typeface="Nirmala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2926080"/>
            <a:ext cx="2011680" cy="868680"/>
          </a:xfrm>
          <a:prstGeom prst="round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Nirmala UI"/>
              </a:rPr>
              <a:t>Cross-lingual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3886200"/>
            <a:ext cx="20116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B263B"/>
                </a:solidFill>
                <a:latin typeface="Calibri"/>
                <a:cs typeface="Nirmala UI"/>
              </a:rPr>
              <a:t>zero-shot vs translate-train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4800600"/>
            <a:ext cx="2011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8D99AE"/>
                </a:solidFill>
                <a:latin typeface="Calibri"/>
                <a:cs typeface="Nirmala UI"/>
              </a:rPr>
              <a:t>plan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45168" y="3063240"/>
            <a:ext cx="36576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F2A44"/>
                </a:solidFill>
                <a:latin typeface="Calibri"/>
                <a:cs typeface="Nirmala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2926080"/>
            <a:ext cx="2011680" cy="868680"/>
          </a:xfrm>
          <a:prstGeom prst="roundRect">
            <a:avLst/>
          </a:prstGeom>
          <a:solidFill>
            <a:srgbClr val="8D99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  <a:cs typeface="Nirmala UI"/>
              </a:rPr>
              <a:t>Evaluate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3886200"/>
            <a:ext cx="201168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1B263B"/>
                </a:solidFill>
                <a:latin typeface="Calibri"/>
                <a:cs typeface="Nirmala UI"/>
              </a:rPr>
              <a:t>macro-F1, per phenomenon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4800600"/>
            <a:ext cx="201168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8D99AE"/>
                </a:solidFill>
                <a:latin typeface="Calibri"/>
                <a:cs typeface="Nirmala UI"/>
              </a:rPr>
              <a:t>plan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C677D"/>
                </a:solidFill>
                <a:latin typeface="Calibri"/>
                <a:cs typeface="Nirmala UI"/>
              </a:rPr>
              <a:t>Models are compared against the floor; the pilot is for development and error analysis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686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4 | RELEVANCE OF THE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  <a:cs typeface="Nirmala UI"/>
              </a:rPr>
              <a:t>Why each choice, with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Sumukh Gupta  |  S24CSEU0570  |  CSET346 NLP  |  Milestone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8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486400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  <a:cs typeface="Nirmala UI"/>
              </a:rPr>
              <a:t>Char n-grams (2-5)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486400" cy="1691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B263B"/>
                </a:solidFill>
                <a:latin typeface="Calibri"/>
                <a:cs typeface="Nirmala UI"/>
              </a:rPr>
              <a:t>Hapax rate 54.3% English, 68.4% pilot: most words seen once. Sub-strings are shared across spellings and Romanised text.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417320"/>
            <a:ext cx="548640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  <a:cs typeface="Nirmala UI"/>
              </a:rPr>
              <a:t>MuRIL encoder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011680"/>
            <a:ext cx="5486400" cy="1691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B263B"/>
                </a:solidFill>
                <a:latin typeface="Calibri"/>
                <a:cs typeface="Nirmala UI"/>
              </a:rPr>
              <a:t>IndicXNLI: MuRIL beats XLM-R, mBERT and IndicBERT on Indic languages; English + Indic training is best. Pretrained with transliterated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886200"/>
            <a:ext cx="548640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  <a:cs typeface="Nirmala UI"/>
              </a:rPr>
              <a:t>claim [SEP] comment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480560"/>
            <a:ext cx="5486400" cy="1691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B263B"/>
                </a:solidFill>
                <a:latin typeface="Calibri"/>
                <a:cs typeface="Nirmala UI"/>
              </a:rPr>
              <a:t>Stance is defined relative to the claim, so the model must see both, not just the topic words.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886200"/>
            <a:ext cx="5486400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Calibri"/>
                <a:cs typeface="Nirmala UI"/>
              </a:rPr>
              <a:t>Macro-F1 + class weights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480560"/>
            <a:ext cx="5486400" cy="169164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1B263B"/>
                </a:solidFill>
                <a:latin typeface="Calibri"/>
                <a:cs typeface="Nirmala UI"/>
              </a:rPr>
              <a:t>Floor 0.20. Weights: macro-F1 0.56 to 0.61, Against recall 0.25 to 0.54.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686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INITIAL IMPLEMENTATION AND PRELIMINARY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  <a:cs typeface="Nirmala UI"/>
              </a:rPr>
              <a:t>What runs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Sumukh Gupta  |  S24CSEU0570  |  CSET346 NLP  |  Milestone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9 / 10</a:t>
            </a:r>
          </a:p>
        </p:txBody>
      </p:sp>
      <p:pic>
        <p:nvPicPr>
          <p:cNvPr id="6" name="Picture 5" descr="fig_baselin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25880"/>
            <a:ext cx="5394960" cy="2919625"/>
          </a:xfrm>
          <a:prstGeom prst="rect">
            <a:avLst/>
          </a:prstGeom>
        </p:spPr>
      </p:pic>
      <p:pic>
        <p:nvPicPr>
          <p:cNvPr id="7" name="Picture 6" descr="fig_confusion_english_c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325880"/>
            <a:ext cx="2926080" cy="258845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052560" y="1463040"/>
            <a:ext cx="2743200" cy="2194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  <a:cs typeface="Nirmala UI"/>
              </a:rPr>
              <a:t>Best (English CV):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  <a:cs typeface="Nirmala UI"/>
              </a:rPr>
              <a:t>word+char LogReg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  <a:cs typeface="Nirmala UI"/>
              </a:rPr>
              <a:t>macro-F1 0.613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  <a:cs typeface="Nirmala UI"/>
              </a:rPr>
              <a:t>floor 0.200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389120"/>
            <a:ext cx="11155680" cy="1188720"/>
          </a:xfrm>
          <a:prstGeom prst="rect">
            <a:avLst/>
          </a:prstGeom>
          <a:solidFill>
            <a:srgbClr val="FDECE8"/>
          </a:solidFill>
          <a:ln w="19050">
            <a:solidFill>
              <a:srgbClr val="E76F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76F51"/>
                </a:solidFill>
                <a:latin typeface="Calibri"/>
                <a:cs typeface="Nirmala UI"/>
              </a:rPr>
              <a:t>Headline finding: </a:t>
            </a:r>
            <a:r>
              <a:rPr sz="1700" b="0" i="0">
                <a:solidFill>
                  <a:srgbClr val="1B263B"/>
                </a:solidFill>
                <a:latin typeface="Calibri"/>
                <a:cs typeface="Nirmala UI"/>
              </a:rPr>
              <a:t>English to Indic zero-shot collapses: macro-F1 0.341 vs floor 0.167, predicting None for 131 of 150 comments. With 58.9% of Against vocabulary also in Favour, this is not simple text classification. </a:t>
            </a:r>
            <a:r>
              <a:rPr sz="1700" b="0" i="1">
                <a:solidFill>
                  <a:srgbClr val="5C677D"/>
                </a:solidFill>
                <a:latin typeface="Calibri"/>
                <a:cs typeface="Nirmala UI"/>
              </a:rPr>
              <a:t>(Pilot: synthetic, dev only; not comparable to official results.)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263B"/>
                </a:solidFill>
                <a:latin typeface="Calibri"/>
                <a:cs typeface="Nirmala UI"/>
              </a:rPr>
              <a:t>Runs today: </a:t>
            </a:r>
            <a:r>
              <a:rPr sz="1400" b="0" i="0">
                <a:solidFill>
                  <a:srgbClr val="1B263B"/>
                </a:solidFill>
                <a:latin typeface="Calibri"/>
                <a:cs typeface="Nirmala UI"/>
              </a:rPr>
              <a:t>loader + validation gate, preprocessing, EDA, TF-IDF baselines, self-checks.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B263B"/>
                </a:solidFill>
                <a:latin typeface="Calibri"/>
                <a:cs typeface="Nirmala UI"/>
              </a:rPr>
              <a:t>Error analysis: </a:t>
            </a:r>
            <a:r>
              <a:rPr sz="1400" b="0" i="0">
                <a:solidFill>
                  <a:srgbClr val="1B263B"/>
                </a:solidFill>
                <a:latin typeface="Calibri"/>
                <a:cs typeface="Nirmala UI"/>
              </a:rPr>
              <a:t>largest confusion is true None predicted Favour (286): factual sentences with no opinion marker. Against recall 0.54.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868680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  <a:cs typeface="Nirmala UI"/>
              </a:rPr>
              <a:t>2 | FEASIBILITY, RISKS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115568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  <a:cs typeface="Nirmala UI"/>
              </a:rPr>
              <a:t>Feasible, with known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446520"/>
            <a:ext cx="91440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Sumukh Gupta  |  S24CSEU0570  |  CSET346 NLP  |  Milestone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/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5C677D"/>
                </a:solidFill>
                <a:latin typeface="Calibri"/>
                <a:cs typeface="Nirmala UI"/>
              </a:rPr>
              <a:t>10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611880" cy="5486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Nirmala UI"/>
              </a:rPr>
              <a:t>Compute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611880" cy="3931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Baselines run on a laptop CPU in minutes (done)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Fine-tuning a base-size encoder on short texts: Colab GPU planned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Runtime: not yet measured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463040"/>
            <a:ext cx="3611880" cy="54864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Nirmala UI"/>
              </a:rPr>
              <a:t>Risks and mitigation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2103120"/>
            <a:ext cx="3611880" cy="3931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Official data not in hand: obtain from the course email; pilot for development only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Against is rare: class weights, macro-F1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Validation-to-test gap: per-phenomenon evaluation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7576" y="1463040"/>
            <a:ext cx="3611880" cy="54864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cs typeface="Nirmala UI"/>
              </a:rPr>
              <a:t>Milestone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7576" y="2103120"/>
            <a:ext cx="3611880" cy="3931920"/>
          </a:xfrm>
          <a:prstGeom prst="rect">
            <a:avLst/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/>
          <a:lstStyle/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Run MuRIL on claim [SEP] comment (XLM-R as comparison)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Zero-shot vs translate-train vs both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Zero-shot LLM baseline</a:t>
            </a:r>
          </a:p>
          <a:p>
            <a:pPr algn="l">
              <a:spcAft>
                <a:spcPts val="1200"/>
              </a:spcAft>
            </a:pPr>
            <a:r>
              <a:rPr sz="2000" b="0" i="0">
                <a:solidFill>
                  <a:srgbClr val="1B263B"/>
                </a:solidFill>
                <a:latin typeface="Calibri"/>
                <a:cs typeface="Nirmala UI"/>
              </a:rPr>
              <a:t>Swap in official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